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erandory" charset="1" panose="00000000000000000000"/>
      <p:regular r:id="rId14"/>
    </p:embeddedFont>
    <p:embeddedFont>
      <p:font typeface="TT Fors Bold" charset="1" panose="020B0003030001020000"/>
      <p:regular r:id="rId15"/>
    </p:embeddedFont>
    <p:embeddedFont>
      <p:font typeface="TT Fors" charset="1" panose="020B000303000102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770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44898" y="4647984"/>
            <a:ext cx="14398205" cy="18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1"/>
              </a:lnSpc>
            </a:pPr>
            <a:r>
              <a:rPr lang="en-US" sz="8599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INVENTORY &amp; WAREHOUSE</a:t>
            </a:r>
          </a:p>
          <a:p>
            <a:pPr algn="ctr">
              <a:lnSpc>
                <a:spcPts val="6621"/>
              </a:lnSpc>
            </a:pPr>
            <a:r>
              <a:rPr lang="en-US" sz="8599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 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5316" y="7964833"/>
            <a:ext cx="7409930" cy="122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2520030601       Billakanti Siri</a:t>
            </a:r>
          </a:p>
          <a:p>
            <a:pPr algn="l">
              <a:lnSpc>
                <a:spcPts val="3275"/>
              </a:lnSpc>
            </a:pPr>
            <a:r>
              <a:rPr lang="en-US" sz="27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2520030082      Bhavana Kondakrindi</a:t>
            </a:r>
          </a:p>
          <a:p>
            <a:pPr algn="l">
              <a:lnSpc>
                <a:spcPts val="3275"/>
              </a:lnSpc>
            </a:pPr>
            <a:r>
              <a:rPr lang="en-US" sz="27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2520030184       Aniketh Pani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7057" y="7964833"/>
            <a:ext cx="5275460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Section - 1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35954" y="2801945"/>
            <a:ext cx="11543928" cy="82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b="true" sz="27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DATABASE SYSTEMS ENGINEERING AND DISTRIBUTED BACKEND</a:t>
            </a:r>
          </a:p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b="true" sz="27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DEVELOPMENT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24132" y="2018413"/>
            <a:ext cx="6728310" cy="6578915"/>
            <a:chOff x="0" y="0"/>
            <a:chExt cx="13576768" cy="13275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76767" cy="13275311"/>
            </a:xfrm>
            <a:custGeom>
              <a:avLst/>
              <a:gdLst/>
              <a:ahLst/>
              <a:cxnLst/>
              <a:rect r="r" b="b" t="t" l="l"/>
              <a:pathLst>
                <a:path h="13275311" w="13576767">
                  <a:moveTo>
                    <a:pt x="8160711" y="0"/>
                  </a:moveTo>
                  <a:lnTo>
                    <a:pt x="13576767" y="0"/>
                  </a:lnTo>
                  <a:lnTo>
                    <a:pt x="13576767" y="13275311"/>
                  </a:lnTo>
                  <a:lnTo>
                    <a:pt x="0" y="13275311"/>
                  </a:lnTo>
                  <a:lnTo>
                    <a:pt x="0" y="6649720"/>
                  </a:lnTo>
                  <a:cubicBezTo>
                    <a:pt x="0" y="2976880"/>
                    <a:pt x="3653305" y="0"/>
                    <a:pt x="8160711" y="0"/>
                  </a:cubicBezTo>
                  <a:close/>
                </a:path>
              </a:pathLst>
            </a:custGeom>
            <a:blipFill>
              <a:blip r:embed="rId4">
                <a:alphaModFix amt="76000"/>
              </a:blip>
              <a:stretch>
                <a:fillRect l="-43123" t="-12893" r="-67137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343852" y="3128853"/>
            <a:ext cx="2360560" cy="2291889"/>
          </a:xfrm>
          <a:custGeom>
            <a:avLst/>
            <a:gdLst/>
            <a:ahLst/>
            <a:cxnLst/>
            <a:rect r="r" b="b" t="t" l="l"/>
            <a:pathLst>
              <a:path h="2291889" w="2360560">
                <a:moveTo>
                  <a:pt x="0" y="0"/>
                </a:moveTo>
                <a:lnTo>
                  <a:pt x="2360561" y="0"/>
                </a:lnTo>
                <a:lnTo>
                  <a:pt x="2360561" y="2291890"/>
                </a:lnTo>
                <a:lnTo>
                  <a:pt x="0" y="2291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341245"/>
            <a:ext cx="9495432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Introduction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734" y="3754666"/>
            <a:ext cx="8658118" cy="533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1"/>
              </a:lnSpc>
            </a:pPr>
            <a:r>
              <a:rPr lang="en-US" sz="25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Invent</a:t>
            </a:r>
            <a:r>
              <a:rPr lang="en-US" sz="25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ory management is essential for businesses handling products across multiple warehouses.</a:t>
            </a:r>
          </a:p>
          <a:p>
            <a:pPr algn="just">
              <a:lnSpc>
                <a:spcPts val="3041"/>
              </a:lnSpc>
            </a:pPr>
          </a:p>
          <a:p>
            <a:pPr algn="just">
              <a:lnSpc>
                <a:spcPts val="3041"/>
              </a:lnSpc>
            </a:pPr>
            <a:r>
              <a:rPr lang="en-US" sz="25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Our system provides a centralized platform to manage: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Manage products &amp; stock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Track multiple w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arehouses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Monitor stock movement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Im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prove inventory visibility</a:t>
            </a:r>
          </a:p>
          <a:p>
            <a:pPr algn="just">
              <a:lnSpc>
                <a:spcPts val="3041"/>
              </a:lnSpc>
            </a:pPr>
          </a:p>
          <a:p>
            <a:pPr algn="just">
              <a:lnSpc>
                <a:spcPts val="3041"/>
              </a:lnSpc>
            </a:pPr>
            <a:r>
              <a:rPr lang="en-US" sz="25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The system aims to make inventory management more accurate, organized, and efficient.</a:t>
            </a:r>
          </a:p>
          <a:p>
            <a:pPr algn="just">
              <a:lnSpc>
                <a:spcPts val="3041"/>
              </a:lnSpc>
            </a:pPr>
          </a:p>
          <a:p>
            <a:pPr algn="just">
              <a:lnSpc>
                <a:spcPts val="304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341245"/>
            <a:ext cx="9495432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abstract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300480"/>
            <a:ext cx="13830350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The Invent</a:t>
            </a: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ory &amp; Warehouse Management System is a database-driven web applic</a:t>
            </a: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ation d</a:t>
            </a: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esigned to streamline inventory operations across multiple warehouses. A MySQL relational database maintains structured relationships between products, warehouses, suppliers, purchase orders, and stock movements.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It incorporates reorder-level automation to identify low-stock products and support timely replenishment. 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The system aims to reduce manual errors, improve stock visibility, and support efficient inventory decisions through centralized data management and reporting.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275588"/>
            <a:ext cx="10976345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69227"/>
            <a:ext cx="770265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Manual inventory records can lead to stock inaccuracies and human errors.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Disconnected records make multi-warehouse tracking difficult.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Stock transfers and movements may be difficult to monitor.</a:t>
            </a:r>
          </a:p>
          <a:p>
            <a:pPr algn="just">
              <a:lnSpc>
                <a:spcPts val="292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379679"/>
            <a:ext cx="6417148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2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Existing Challenges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364791"/>
            <a:ext cx="77026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4"/>
              </a:lnSpc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A centralized database-driven system to improve stock accuracy, visibility, and warehouse operations.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37106"/>
            <a:ext cx="6417148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2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Our Approach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04437" y="3929862"/>
            <a:ext cx="7236418" cy="5406052"/>
            <a:chOff x="0" y="0"/>
            <a:chExt cx="2422086" cy="18094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22086" cy="1809449"/>
            </a:xfrm>
            <a:custGeom>
              <a:avLst/>
              <a:gdLst/>
              <a:ahLst/>
              <a:cxnLst/>
              <a:rect r="r" b="b" t="t" l="l"/>
              <a:pathLst>
                <a:path h="1809449" w="2422086">
                  <a:moveTo>
                    <a:pt x="54563" y="0"/>
                  </a:moveTo>
                  <a:lnTo>
                    <a:pt x="2367524" y="0"/>
                  </a:lnTo>
                  <a:cubicBezTo>
                    <a:pt x="2381995" y="0"/>
                    <a:pt x="2395873" y="5749"/>
                    <a:pt x="2406105" y="15981"/>
                  </a:cubicBezTo>
                  <a:cubicBezTo>
                    <a:pt x="2416338" y="26213"/>
                    <a:pt x="2422086" y="40092"/>
                    <a:pt x="2422086" y="54563"/>
                  </a:cubicBezTo>
                  <a:lnTo>
                    <a:pt x="2422086" y="1754886"/>
                  </a:lnTo>
                  <a:cubicBezTo>
                    <a:pt x="2422086" y="1769357"/>
                    <a:pt x="2416338" y="1783235"/>
                    <a:pt x="2406105" y="1793468"/>
                  </a:cubicBezTo>
                  <a:cubicBezTo>
                    <a:pt x="2395873" y="1803700"/>
                    <a:pt x="2381995" y="1809449"/>
                    <a:pt x="2367524" y="1809449"/>
                  </a:cubicBezTo>
                  <a:lnTo>
                    <a:pt x="54563" y="1809449"/>
                  </a:lnTo>
                  <a:cubicBezTo>
                    <a:pt x="40092" y="1809449"/>
                    <a:pt x="26213" y="1803700"/>
                    <a:pt x="15981" y="1793468"/>
                  </a:cubicBezTo>
                  <a:cubicBezTo>
                    <a:pt x="5749" y="1783235"/>
                    <a:pt x="0" y="1769357"/>
                    <a:pt x="0" y="1754886"/>
                  </a:cubicBezTo>
                  <a:lnTo>
                    <a:pt x="0" y="54563"/>
                  </a:lnTo>
                  <a:cubicBezTo>
                    <a:pt x="0" y="40092"/>
                    <a:pt x="5749" y="26213"/>
                    <a:pt x="15981" y="15981"/>
                  </a:cubicBezTo>
                  <a:cubicBezTo>
                    <a:pt x="26213" y="5749"/>
                    <a:pt x="40092" y="0"/>
                    <a:pt x="54563" y="0"/>
                  </a:cubicBezTo>
                  <a:close/>
                </a:path>
              </a:pathLst>
            </a:custGeom>
            <a:solidFill>
              <a:srgbClr val="34343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22086" cy="1847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97583" y="3611202"/>
            <a:ext cx="7850128" cy="6199355"/>
          </a:xfrm>
          <a:prstGeom prst="rect">
            <a:avLst/>
          </a:prstGeom>
        </p:spPr>
      </p:pic>
      <p:sp>
        <p:nvSpPr>
          <p:cNvPr name="Freeform 20" id="20"/>
          <p:cNvSpPr/>
          <p:nvPr/>
        </p:nvSpPr>
        <p:spPr>
          <a:xfrm flipH="false" flipV="false" rot="0">
            <a:off x="16417332" y="6515974"/>
            <a:ext cx="1447054" cy="1389172"/>
          </a:xfrm>
          <a:custGeom>
            <a:avLst/>
            <a:gdLst/>
            <a:ahLst/>
            <a:cxnLst/>
            <a:rect r="r" b="b" t="t" l="l"/>
            <a:pathLst>
              <a:path h="1389172" w="1447054">
                <a:moveTo>
                  <a:pt x="0" y="0"/>
                </a:moveTo>
                <a:lnTo>
                  <a:pt x="1447054" y="0"/>
                </a:lnTo>
                <a:lnTo>
                  <a:pt x="1447054" y="1389172"/>
                </a:lnTo>
                <a:lnTo>
                  <a:pt x="0" y="1389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310800" y="3707359"/>
            <a:ext cx="1040960" cy="1116039"/>
          </a:xfrm>
          <a:custGeom>
            <a:avLst/>
            <a:gdLst/>
            <a:ahLst/>
            <a:cxnLst/>
            <a:rect r="r" b="b" t="t" l="l"/>
            <a:pathLst>
              <a:path h="1116039" w="1040960">
                <a:moveTo>
                  <a:pt x="0" y="0"/>
                </a:moveTo>
                <a:lnTo>
                  <a:pt x="1040960" y="0"/>
                </a:lnTo>
                <a:lnTo>
                  <a:pt x="1040960" y="1116039"/>
                </a:lnTo>
                <a:lnTo>
                  <a:pt x="0" y="1116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275588"/>
            <a:ext cx="10976345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MODULES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409950"/>
            <a:ext cx="15889852" cy="687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Warehouse &amp; Inventory Management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Track stock levels and product availability across multiple warehouses.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Stock In / Stock Out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Record incoming and outgoing inventory with accurate stock updates.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Warehou</a:t>
            </a: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se Transfer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Transfer products between warehouses while maintaining updated stock records.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Supplier &amp; Purchase Orders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Manage supplier information and create and track purchase orders.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Reorder Level Automation</a:t>
            </a:r>
          </a:p>
          <a:p>
            <a:pPr algn="just">
              <a:lnSpc>
                <a:spcPts val="2924"/>
              </a:lnSpc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Identify products below their defined reorder level and support timely replenishment.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  <a:r>
              <a:rPr lang="en-US" sz="24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Stock Audit &amp; Reports</a:t>
            </a:r>
          </a:p>
          <a:p>
            <a:pPr algn="just">
              <a:lnSpc>
                <a:spcPts val="2924"/>
              </a:lnSpc>
            </a:pPr>
            <a:r>
              <a:rPr lang="en-US" sz="2499">
                <a:solidFill>
                  <a:srgbClr val="3A3E61"/>
                </a:solidFill>
                <a:latin typeface="TT Fors"/>
                <a:ea typeface="TT Fors"/>
                <a:cs typeface="TT Fors"/>
                <a:sym typeface="TT Fors"/>
              </a:rPr>
              <a:t>Monitor stock activity and generate reports for inventory analysis and decision-making.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1028700" y="4259802"/>
            <a:ext cx="12808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28700" y="5373873"/>
            <a:ext cx="12808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28700" y="6488298"/>
            <a:ext cx="12808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28700" y="7602723"/>
            <a:ext cx="12808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28700" y="8717148"/>
            <a:ext cx="12808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9831573"/>
            <a:ext cx="12808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843822"/>
            <a:ext cx="16230600" cy="108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87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Hardware requirements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97235"/>
            <a:ext cx="15889852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Processor: Intel i3 / equivalent or hig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er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M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emory: 4 GB RAM or higher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Storage: 10 GB available space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Display: 1366 × 768 or higher</a:t>
            </a: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</a:p>
          <a:p>
            <a:pPr algn="just">
              <a:lnSpc>
                <a:spcPts val="292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634979"/>
            <a:ext cx="16230600" cy="108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87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Software Requirements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724650"/>
            <a:ext cx="15889852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Frontend - React.js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Backend - 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N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ode.js + Express.js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Da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tabase - 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MySQL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V</a:t>
            </a: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isualization - Chart.js</a:t>
            </a:r>
          </a:p>
          <a:p>
            <a:pPr algn="just" marL="539748" indent="-269874" lvl="1">
              <a:lnSpc>
                <a:spcPts val="2924"/>
              </a:lnSpc>
              <a:buFont typeface="Arial"/>
              <a:buChar char="•"/>
            </a:pPr>
            <a:r>
              <a:rPr lang="en-US" b="true" sz="24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Platform - Windows / macOS / Linux</a:t>
            </a:r>
          </a:p>
          <a:p>
            <a:pPr algn="just">
              <a:lnSpc>
                <a:spcPts val="292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843822"/>
            <a:ext cx="16230600" cy="108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8700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243072"/>
            <a:ext cx="15889852" cy="381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1"/>
              </a:lnSpc>
            </a:pPr>
            <a:r>
              <a:rPr lang="en-US" sz="25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The Inventory &amp; Warehouse Management System provides a centralized platform for managing inventory across multiple warehouses.</a:t>
            </a:r>
          </a:p>
          <a:p>
            <a:pPr algn="just">
              <a:lnSpc>
                <a:spcPts val="3041"/>
              </a:lnSpc>
            </a:pPr>
          </a:p>
          <a:p>
            <a:pPr algn="just">
              <a:lnSpc>
                <a:spcPts val="3041"/>
              </a:lnSpc>
            </a:pPr>
            <a:r>
              <a:rPr lang="en-US" sz="2599" b="true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Key Outcomes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Accura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te stock tracking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Eff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icient w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areh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ouse operations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Timely inventory replenishment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Centralized supplier &amp; purchase management</a:t>
            </a:r>
          </a:p>
          <a:p>
            <a:pPr algn="just" marL="561337" indent="-280669" lvl="1">
              <a:lnSpc>
                <a:spcPts val="3041"/>
              </a:lnSpc>
              <a:buFont typeface="Arial"/>
              <a:buChar char="•"/>
            </a:pP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Inv</a:t>
            </a:r>
            <a:r>
              <a:rPr lang="en-US" b="true" sz="2599">
                <a:solidFill>
                  <a:srgbClr val="3A3E61"/>
                </a:solidFill>
                <a:latin typeface="TT Fors Bold"/>
                <a:ea typeface="TT Fors Bold"/>
                <a:cs typeface="TT Fors Bold"/>
                <a:sym typeface="TT Fors Bold"/>
              </a:rPr>
              <a:t>entory monitoring and dashboard insights</a:t>
            </a:r>
          </a:p>
          <a:p>
            <a:pPr algn="just">
              <a:lnSpc>
                <a:spcPts val="304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4662" y="-235831"/>
            <a:ext cx="21517324" cy="10758662"/>
            <a:chOff x="0" y="0"/>
            <a:chExt cx="28689765" cy="14344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72441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72441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344882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344882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2" y="0"/>
                  </a:lnTo>
                  <a:lnTo>
                    <a:pt x="7172442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517324" y="0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517324" y="7172441"/>
              <a:ext cx="7172441" cy="7172441"/>
            </a:xfrm>
            <a:custGeom>
              <a:avLst/>
              <a:gdLst/>
              <a:ahLst/>
              <a:cxnLst/>
              <a:rect r="r" b="b" t="t" l="l"/>
              <a:pathLst>
                <a:path h="7172441" w="7172441">
                  <a:moveTo>
                    <a:pt x="0" y="0"/>
                  </a:moveTo>
                  <a:lnTo>
                    <a:pt x="7172441" y="0"/>
                  </a:lnTo>
                  <a:lnTo>
                    <a:pt x="7172441" y="7172441"/>
                  </a:lnTo>
                  <a:lnTo>
                    <a:pt x="0" y="7172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44898" y="4647984"/>
            <a:ext cx="14398205" cy="10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1"/>
              </a:lnSpc>
            </a:pPr>
            <a:r>
              <a:rPr lang="en-US" sz="8599">
                <a:solidFill>
                  <a:srgbClr val="3A3E61"/>
                </a:solidFill>
                <a:latin typeface="Perandory"/>
                <a:ea typeface="Perandory"/>
                <a:cs typeface="Perandory"/>
                <a:sym typeface="Perandor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DAHSO1yBIxE</dc:identifier>
  <dcterms:modified xsi:type="dcterms:W3CDTF">2011-08-01T06:04:30Z</dcterms:modified>
  <cp:revision>1</cp:revision>
  <dc:title>r</dc:title>
</cp:coreProperties>
</file>